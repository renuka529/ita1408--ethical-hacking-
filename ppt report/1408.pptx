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329" r:id="rId4"/>
    <p:sldId id="258" r:id="rId5"/>
    <p:sldId id="287" r:id="rId6"/>
    <p:sldId id="288" r:id="rId7"/>
    <p:sldId id="257" r:id="rId8"/>
    <p:sldId id="301" r:id="rId9"/>
    <p:sldId id="321" r:id="rId10"/>
    <p:sldId id="327" r:id="rId11"/>
    <p:sldId id="322" r:id="rId12"/>
    <p:sldId id="323" r:id="rId13"/>
    <p:sldId id="324" r:id="rId14"/>
    <p:sldId id="331" r:id="rId15"/>
    <p:sldId id="332" r:id="rId16"/>
    <p:sldId id="325" r:id="rId17"/>
    <p:sldId id="330" r:id="rId18"/>
    <p:sldId id="328" r:id="rId19"/>
    <p:sldId id="272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D2FD2-0CEB-47C2-AD06-323A801EABB3}" v="8" dt="2026-08-20T05:02:25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ka pothamsetti" userId="e6505393a2334a83" providerId="LiveId" clId="{131E0844-3D11-4221-B13E-8387844ACDCA}"/>
    <pc:docChg chg="undo custSel addSld delSld modSld sldOrd">
      <pc:chgData name="renuka pothamsetti" userId="e6505393a2334a83" providerId="LiveId" clId="{131E0844-3D11-4221-B13E-8387844ACDCA}" dt="2026-08-20T05:02:35.253" v="135" actId="14100"/>
      <pc:docMkLst>
        <pc:docMk/>
      </pc:docMkLst>
      <pc:sldChg chg="modSp mod">
        <pc:chgData name="renuka pothamsetti" userId="e6505393a2334a83" providerId="LiveId" clId="{131E0844-3D11-4221-B13E-8387844ACDCA}" dt="2026-08-20T04:00:15.893" v="5" actId="20577"/>
        <pc:sldMkLst>
          <pc:docMk/>
          <pc:sldMk cId="0" sldId="256"/>
        </pc:sldMkLst>
        <pc:spChg chg="mod">
          <ac:chgData name="renuka pothamsetti" userId="e6505393a2334a83" providerId="LiveId" clId="{131E0844-3D11-4221-B13E-8387844ACDCA}" dt="2026-08-20T04:00:15.893" v="5" actId="20577"/>
          <ac:spMkLst>
            <pc:docMk/>
            <pc:sldMk cId="0" sldId="256"/>
            <ac:spMk id="3" creationId="{00000000-0000-0000-0000-000000000000}"/>
          </ac:spMkLst>
        </pc:spChg>
      </pc:sldChg>
      <pc:sldChg chg="ord">
        <pc:chgData name="renuka pothamsetti" userId="e6505393a2334a83" providerId="LiveId" clId="{131E0844-3D11-4221-B13E-8387844ACDCA}" dt="2026-08-20T04:00:37.861" v="7"/>
        <pc:sldMkLst>
          <pc:docMk/>
          <pc:sldMk cId="0" sldId="288"/>
        </pc:sldMkLst>
      </pc:sldChg>
      <pc:sldChg chg="ord">
        <pc:chgData name="renuka pothamsetti" userId="e6505393a2334a83" providerId="LiveId" clId="{131E0844-3D11-4221-B13E-8387844ACDCA}" dt="2026-08-20T04:00:49.423" v="9"/>
        <pc:sldMkLst>
          <pc:docMk/>
          <pc:sldMk cId="0" sldId="301"/>
        </pc:sldMkLst>
      </pc:sldChg>
      <pc:sldChg chg="modSp mod">
        <pc:chgData name="renuka pothamsetti" userId="e6505393a2334a83" providerId="LiveId" clId="{131E0844-3D11-4221-B13E-8387844ACDCA}" dt="2026-08-20T04:45:01.076" v="117" actId="20577"/>
        <pc:sldMkLst>
          <pc:docMk/>
          <pc:sldMk cId="2960748240" sldId="328"/>
        </pc:sldMkLst>
        <pc:spChg chg="mod">
          <ac:chgData name="renuka pothamsetti" userId="e6505393a2334a83" providerId="LiveId" clId="{131E0844-3D11-4221-B13E-8387844ACDCA}" dt="2026-08-20T04:45:01.076" v="117" actId="20577"/>
          <ac:spMkLst>
            <pc:docMk/>
            <pc:sldMk cId="2960748240" sldId="328"/>
            <ac:spMk id="8" creationId="{AA79DD0B-1FEA-AD36-8454-E977BCA0F1FB}"/>
          </ac:spMkLst>
        </pc:spChg>
      </pc:sldChg>
      <pc:sldChg chg="addSp delSp modSp new mod">
        <pc:chgData name="renuka pothamsetti" userId="e6505393a2334a83" providerId="LiveId" clId="{131E0844-3D11-4221-B13E-8387844ACDCA}" dt="2026-08-20T04:17:09.626" v="77" actId="12"/>
        <pc:sldMkLst>
          <pc:docMk/>
          <pc:sldMk cId="152629083" sldId="330"/>
        </pc:sldMkLst>
        <pc:spChg chg="add del mod">
          <ac:chgData name="renuka pothamsetti" userId="e6505393a2334a83" providerId="LiveId" clId="{131E0844-3D11-4221-B13E-8387844ACDCA}" dt="2026-08-20T04:03:16.698" v="18" actId="478"/>
          <ac:spMkLst>
            <pc:docMk/>
            <pc:sldMk cId="152629083" sldId="330"/>
            <ac:spMk id="7" creationId="{CCEFC585-7868-0444-3053-207C733486DC}"/>
          </ac:spMkLst>
        </pc:spChg>
        <pc:spChg chg="add mod">
          <ac:chgData name="renuka pothamsetti" userId="e6505393a2334a83" providerId="LiveId" clId="{131E0844-3D11-4221-B13E-8387844ACDCA}" dt="2026-08-20T04:17:02.573" v="76" actId="1076"/>
          <ac:spMkLst>
            <pc:docMk/>
            <pc:sldMk cId="152629083" sldId="330"/>
            <ac:spMk id="9" creationId="{70D1353F-BCAF-DA48-3178-57DC9A6A6E1F}"/>
          </ac:spMkLst>
        </pc:spChg>
        <pc:spChg chg="add mod">
          <ac:chgData name="renuka pothamsetti" userId="e6505393a2334a83" providerId="LiveId" clId="{131E0844-3D11-4221-B13E-8387844ACDCA}" dt="2026-08-20T04:17:09.626" v="77" actId="12"/>
          <ac:spMkLst>
            <pc:docMk/>
            <pc:sldMk cId="152629083" sldId="330"/>
            <ac:spMk id="10" creationId="{C01F0708-FB5F-2C12-FA21-8F481C414ED9}"/>
          </ac:spMkLst>
        </pc:spChg>
        <pc:picChg chg="add">
          <ac:chgData name="renuka pothamsetti" userId="e6505393a2334a83" providerId="LiveId" clId="{131E0844-3D11-4221-B13E-8387844ACDCA}" dt="2026-08-20T04:02:25.918" v="11" actId="22"/>
          <ac:picMkLst>
            <pc:docMk/>
            <pc:sldMk cId="152629083" sldId="330"/>
            <ac:picMk id="4" creationId="{A127AA60-6DF1-EC4C-29E3-13B03270E4CD}"/>
          </ac:picMkLst>
        </pc:picChg>
        <pc:picChg chg="add del">
          <ac:chgData name="renuka pothamsetti" userId="e6505393a2334a83" providerId="LiveId" clId="{131E0844-3D11-4221-B13E-8387844ACDCA}" dt="2026-08-20T04:02:38.885" v="13" actId="22"/>
          <ac:picMkLst>
            <pc:docMk/>
            <pc:sldMk cId="152629083" sldId="330"/>
            <ac:picMk id="6" creationId="{5E87E913-52A6-84AB-D995-8E93F8A1532E}"/>
          </ac:picMkLst>
        </pc:picChg>
      </pc:sldChg>
      <pc:sldChg chg="add del">
        <pc:chgData name="renuka pothamsetti" userId="e6505393a2334a83" providerId="LiveId" clId="{131E0844-3D11-4221-B13E-8387844ACDCA}" dt="2026-08-20T04:03:14.774" v="17"/>
        <pc:sldMkLst>
          <pc:docMk/>
          <pc:sldMk cId="877248926" sldId="331"/>
        </pc:sldMkLst>
      </pc:sldChg>
      <pc:sldChg chg="addSp modSp new mod">
        <pc:chgData name="renuka pothamsetti" userId="e6505393a2334a83" providerId="LiveId" clId="{131E0844-3D11-4221-B13E-8387844ACDCA}" dt="2026-08-20T05:02:16.703" v="129" actId="14100"/>
        <pc:sldMkLst>
          <pc:docMk/>
          <pc:sldMk cId="3013146808" sldId="331"/>
        </pc:sldMkLst>
        <pc:picChg chg="add mod">
          <ac:chgData name="renuka pothamsetti" userId="e6505393a2334a83" providerId="LiveId" clId="{131E0844-3D11-4221-B13E-8387844ACDCA}" dt="2026-08-20T05:02:16.703" v="129" actId="14100"/>
          <ac:picMkLst>
            <pc:docMk/>
            <pc:sldMk cId="3013146808" sldId="331"/>
            <ac:picMk id="4" creationId="{76CE77D7-08A6-EBFA-3337-5502D33610DC}"/>
          </ac:picMkLst>
        </pc:picChg>
        <pc:picChg chg="add mod">
          <ac:chgData name="renuka pothamsetti" userId="e6505393a2334a83" providerId="LiveId" clId="{131E0844-3D11-4221-B13E-8387844ACDCA}" dt="2026-08-20T05:02:13.689" v="128" actId="14100"/>
          <ac:picMkLst>
            <pc:docMk/>
            <pc:sldMk cId="3013146808" sldId="331"/>
            <ac:picMk id="6" creationId="{369B1E52-A7FA-F0CB-1FE4-B7F9781427BB}"/>
          </ac:picMkLst>
        </pc:picChg>
      </pc:sldChg>
      <pc:sldChg chg="addSp modSp new mod">
        <pc:chgData name="renuka pothamsetti" userId="e6505393a2334a83" providerId="LiveId" clId="{131E0844-3D11-4221-B13E-8387844ACDCA}" dt="2026-08-20T05:02:35.253" v="135" actId="14100"/>
        <pc:sldMkLst>
          <pc:docMk/>
          <pc:sldMk cId="3175039089" sldId="332"/>
        </pc:sldMkLst>
        <pc:picChg chg="add mod">
          <ac:chgData name="renuka pothamsetti" userId="e6505393a2334a83" providerId="LiveId" clId="{131E0844-3D11-4221-B13E-8387844ACDCA}" dt="2026-08-20T05:02:35.253" v="135" actId="14100"/>
          <ac:picMkLst>
            <pc:docMk/>
            <pc:sldMk cId="3175039089" sldId="332"/>
            <ac:picMk id="4" creationId="{83354209-718B-0090-E8CE-76DDC7A11AA8}"/>
          </ac:picMkLst>
        </pc:picChg>
        <pc:picChg chg="add mod">
          <ac:chgData name="renuka pothamsetti" userId="e6505393a2334a83" providerId="LiveId" clId="{131E0844-3D11-4221-B13E-8387844ACDCA}" dt="2026-08-20T05:02:25.681" v="132" actId="14100"/>
          <ac:picMkLst>
            <pc:docMk/>
            <pc:sldMk cId="3175039089" sldId="332"/>
            <ac:picMk id="6" creationId="{234140E4-523E-0C21-850E-210F30224BF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B6AF11-D0B1-44DD-AC06-393C1B835AC7}" type="doc">
      <dgm:prSet loTypeId="urn:microsoft.com/office/officeart/2005/8/layout/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A8709C74-A481-4B33-BC38-C48B26D4FEE9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DNS misconfigurations can expose sensitive network information, making systems vulnerable to cyberattacks and data leakage. An automated detection system is needed to identify and prevent these security issues.</a:t>
          </a:r>
        </a:p>
      </dgm:t>
    </dgm:pt>
    <dgm:pt modelId="{A2408750-E1FB-4188-AE00-EE905F09ED0C}" type="parTrans" cxnId="{94D40FFF-9709-4ED2-B0F9-6970275049CD}">
      <dgm:prSet/>
      <dgm:spPr/>
      <dgm:t>
        <a:bodyPr/>
        <a:lstStyle/>
        <a:p>
          <a:endParaRPr lang="en-US"/>
        </a:p>
      </dgm:t>
    </dgm:pt>
    <dgm:pt modelId="{7EC1421E-CB4D-418C-B93D-2F6F6C43C970}" type="sibTrans" cxnId="{94D40FFF-9709-4ED2-B0F9-6970275049CD}">
      <dgm:prSet/>
      <dgm:spPr/>
      <dgm:t>
        <a:bodyPr/>
        <a:lstStyle/>
        <a:p>
          <a:endParaRPr lang="en-US"/>
        </a:p>
      </dgm:t>
    </dgm:pt>
    <dgm:pt modelId="{550360BF-8289-427F-8F50-4B9420177C62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Manual detection of DNS configuration errors is slow and may miss critical vulnerabilities. A real-time automated solution can improve DNS security and prevent information leakage.</a:t>
          </a:r>
        </a:p>
      </dgm:t>
    </dgm:pt>
    <dgm:pt modelId="{7AE65516-C8A7-45BD-BBA4-CFABF536A7D8}" type="parTrans" cxnId="{F79448AD-894C-4347-94EB-4526A8A6593D}">
      <dgm:prSet/>
      <dgm:spPr/>
      <dgm:t>
        <a:bodyPr/>
        <a:lstStyle/>
        <a:p>
          <a:endParaRPr lang="en-US"/>
        </a:p>
      </dgm:t>
    </dgm:pt>
    <dgm:pt modelId="{127EF403-F5C3-4657-B05C-D1AB2718EFB7}" type="sibTrans" cxnId="{F79448AD-894C-4347-94EB-4526A8A6593D}">
      <dgm:prSet/>
      <dgm:spPr/>
      <dgm:t>
        <a:bodyPr/>
        <a:lstStyle/>
        <a:p>
          <a:endParaRPr lang="en-US"/>
        </a:p>
      </dgm:t>
    </dgm:pt>
    <dgm:pt modelId="{FCA76026-7BA9-415D-A0A4-E400E95BE129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Exposed DNS records and incorrect settings allow attackers to gather valuable network information. Automated DNS misconfiguration detection helps secure DNS infrastructure and protects sensitive data.</a:t>
          </a:r>
        </a:p>
      </dgm:t>
    </dgm:pt>
    <dgm:pt modelId="{1E30B443-5437-4EBA-BFA4-8B7317C3E574}" type="parTrans" cxnId="{C7B2BF21-347D-4E74-AA6C-34FBC591143D}">
      <dgm:prSet/>
      <dgm:spPr/>
      <dgm:t>
        <a:bodyPr/>
        <a:lstStyle/>
        <a:p>
          <a:endParaRPr lang="en-US"/>
        </a:p>
      </dgm:t>
    </dgm:pt>
    <dgm:pt modelId="{B5F38930-7F1A-477F-8173-339B011422EA}" type="sibTrans" cxnId="{C7B2BF21-347D-4E74-AA6C-34FBC591143D}">
      <dgm:prSet/>
      <dgm:spPr/>
      <dgm:t>
        <a:bodyPr/>
        <a:lstStyle/>
        <a:p>
          <a:endParaRPr lang="en-US"/>
        </a:p>
      </dgm:t>
    </dgm:pt>
    <dgm:pt modelId="{E16BA579-B847-4633-8892-4DA4BA992445}" type="pres">
      <dgm:prSet presAssocID="{09B6AF11-D0B1-44DD-AC06-393C1B835AC7}" presName="linear" presStyleCnt="0">
        <dgm:presLayoutVars>
          <dgm:dir/>
          <dgm:animLvl val="lvl"/>
          <dgm:resizeHandles val="exact"/>
        </dgm:presLayoutVars>
      </dgm:prSet>
      <dgm:spPr/>
    </dgm:pt>
    <dgm:pt modelId="{4A8524CA-AF5F-4945-928B-BEB0FCDBAA88}" type="pres">
      <dgm:prSet presAssocID="{A8709C74-A481-4B33-BC38-C48B26D4FEE9}" presName="parentLin" presStyleCnt="0"/>
      <dgm:spPr/>
    </dgm:pt>
    <dgm:pt modelId="{15173A8E-FA92-4A9E-8037-841699541C2E}" type="pres">
      <dgm:prSet presAssocID="{A8709C74-A481-4B33-BC38-C48B26D4FEE9}" presName="parentLeftMargin" presStyleLbl="node1" presStyleIdx="0" presStyleCnt="3"/>
      <dgm:spPr/>
    </dgm:pt>
    <dgm:pt modelId="{5E4D9C41-D6A3-4689-9F8F-C8A890BAB227}" type="pres">
      <dgm:prSet presAssocID="{A8709C74-A481-4B33-BC38-C48B26D4FEE9}" presName="parentText" presStyleLbl="node1" presStyleIdx="0" presStyleCnt="3" custScaleX="118199" custLinFactNeighborY="1599">
        <dgm:presLayoutVars>
          <dgm:chMax val="0"/>
          <dgm:bulletEnabled val="1"/>
        </dgm:presLayoutVars>
      </dgm:prSet>
      <dgm:spPr/>
    </dgm:pt>
    <dgm:pt modelId="{F2252F2C-F1B1-41D8-86FE-8C099FE0C6D9}" type="pres">
      <dgm:prSet presAssocID="{A8709C74-A481-4B33-BC38-C48B26D4FEE9}" presName="negativeSpace" presStyleCnt="0"/>
      <dgm:spPr/>
    </dgm:pt>
    <dgm:pt modelId="{7CA01847-DEB7-46D6-9BFB-6605D7DFD35E}" type="pres">
      <dgm:prSet presAssocID="{A8709C74-A481-4B33-BC38-C48B26D4FEE9}" presName="childText" presStyleLbl="conFgAcc1" presStyleIdx="0" presStyleCnt="3">
        <dgm:presLayoutVars>
          <dgm:bulletEnabled val="1"/>
        </dgm:presLayoutVars>
      </dgm:prSet>
      <dgm:spPr/>
    </dgm:pt>
    <dgm:pt modelId="{895E4580-C261-447D-A5F3-ECDE85F0DAAD}" type="pres">
      <dgm:prSet presAssocID="{7EC1421E-CB4D-418C-B93D-2F6F6C43C970}" presName="spaceBetweenRectangles" presStyleCnt="0"/>
      <dgm:spPr/>
    </dgm:pt>
    <dgm:pt modelId="{19BCCCC2-D807-47DE-9FFB-3E11E74056EF}" type="pres">
      <dgm:prSet presAssocID="{550360BF-8289-427F-8F50-4B9420177C62}" presName="parentLin" presStyleCnt="0"/>
      <dgm:spPr/>
    </dgm:pt>
    <dgm:pt modelId="{A1D62208-CD1A-4F0D-B728-B752F1984C59}" type="pres">
      <dgm:prSet presAssocID="{550360BF-8289-427F-8F50-4B9420177C62}" presName="parentLeftMargin" presStyleLbl="node1" presStyleIdx="0" presStyleCnt="3"/>
      <dgm:spPr/>
    </dgm:pt>
    <dgm:pt modelId="{8B98A241-9185-4238-AE94-E077837BFB93}" type="pres">
      <dgm:prSet presAssocID="{550360BF-8289-427F-8F50-4B9420177C62}" presName="parentText" presStyleLbl="node1" presStyleIdx="1" presStyleCnt="3" custScaleX="118333">
        <dgm:presLayoutVars>
          <dgm:chMax val="0"/>
          <dgm:bulletEnabled val="1"/>
        </dgm:presLayoutVars>
      </dgm:prSet>
      <dgm:spPr/>
    </dgm:pt>
    <dgm:pt modelId="{381D9459-1E51-4F53-8CDF-ED18E7DFF4BD}" type="pres">
      <dgm:prSet presAssocID="{550360BF-8289-427F-8F50-4B9420177C62}" presName="negativeSpace" presStyleCnt="0"/>
      <dgm:spPr/>
    </dgm:pt>
    <dgm:pt modelId="{506FE2D0-DCD5-4EAD-B3E1-371380EECD98}" type="pres">
      <dgm:prSet presAssocID="{550360BF-8289-427F-8F50-4B9420177C62}" presName="childText" presStyleLbl="conFgAcc1" presStyleIdx="1" presStyleCnt="3">
        <dgm:presLayoutVars>
          <dgm:bulletEnabled val="1"/>
        </dgm:presLayoutVars>
      </dgm:prSet>
      <dgm:spPr/>
    </dgm:pt>
    <dgm:pt modelId="{13AA2561-70F5-4324-9588-E741B9D8DD52}" type="pres">
      <dgm:prSet presAssocID="{127EF403-F5C3-4657-B05C-D1AB2718EFB7}" presName="spaceBetweenRectangles" presStyleCnt="0"/>
      <dgm:spPr/>
    </dgm:pt>
    <dgm:pt modelId="{64AF8013-8D19-41ED-A3B8-AC31F9DA691B}" type="pres">
      <dgm:prSet presAssocID="{FCA76026-7BA9-415D-A0A4-E400E95BE129}" presName="parentLin" presStyleCnt="0"/>
      <dgm:spPr/>
    </dgm:pt>
    <dgm:pt modelId="{3ABC4144-55B4-4174-B754-0BB10DEDC7F2}" type="pres">
      <dgm:prSet presAssocID="{FCA76026-7BA9-415D-A0A4-E400E95BE129}" presName="parentLeftMargin" presStyleLbl="node1" presStyleIdx="1" presStyleCnt="3"/>
      <dgm:spPr/>
    </dgm:pt>
    <dgm:pt modelId="{25D18F8D-76CE-4959-98D6-08B254ECE73D}" type="pres">
      <dgm:prSet presAssocID="{FCA76026-7BA9-415D-A0A4-E400E95BE129}" presName="parentText" presStyleLbl="node1" presStyleIdx="2" presStyleCnt="3" custScaleX="118687">
        <dgm:presLayoutVars>
          <dgm:chMax val="0"/>
          <dgm:bulletEnabled val="1"/>
        </dgm:presLayoutVars>
      </dgm:prSet>
      <dgm:spPr/>
    </dgm:pt>
    <dgm:pt modelId="{152C46CA-2622-4AB6-A5F3-C2FF87FDD965}" type="pres">
      <dgm:prSet presAssocID="{FCA76026-7BA9-415D-A0A4-E400E95BE129}" presName="negativeSpace" presStyleCnt="0"/>
      <dgm:spPr/>
    </dgm:pt>
    <dgm:pt modelId="{330FD918-47DD-4FC9-8BB7-A94BD69B0236}" type="pres">
      <dgm:prSet presAssocID="{FCA76026-7BA9-415D-A0A4-E400E95BE12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64AD116-582C-4CB5-A727-E84216052608}" type="presOf" srcId="{FCA76026-7BA9-415D-A0A4-E400E95BE129}" destId="{3ABC4144-55B4-4174-B754-0BB10DEDC7F2}" srcOrd="0" destOrd="0" presId="urn:microsoft.com/office/officeart/2005/8/layout/list1"/>
    <dgm:cxn modelId="{C7B2BF21-347D-4E74-AA6C-34FBC591143D}" srcId="{09B6AF11-D0B1-44DD-AC06-393C1B835AC7}" destId="{FCA76026-7BA9-415D-A0A4-E400E95BE129}" srcOrd="2" destOrd="0" parTransId="{1E30B443-5437-4EBA-BFA4-8B7317C3E574}" sibTransId="{B5F38930-7F1A-477F-8173-339B011422EA}"/>
    <dgm:cxn modelId="{C2623056-4353-4C0C-B79E-FD10242A5860}" type="presOf" srcId="{FCA76026-7BA9-415D-A0A4-E400E95BE129}" destId="{25D18F8D-76CE-4959-98D6-08B254ECE73D}" srcOrd="1" destOrd="0" presId="urn:microsoft.com/office/officeart/2005/8/layout/list1"/>
    <dgm:cxn modelId="{684F178C-E23B-4FE5-B420-1392E7194369}" type="presOf" srcId="{550360BF-8289-427F-8F50-4B9420177C62}" destId="{A1D62208-CD1A-4F0D-B728-B752F1984C59}" srcOrd="0" destOrd="0" presId="urn:microsoft.com/office/officeart/2005/8/layout/list1"/>
    <dgm:cxn modelId="{BBED13A0-F135-4FB7-ADA0-7D8D66657E54}" type="presOf" srcId="{550360BF-8289-427F-8F50-4B9420177C62}" destId="{8B98A241-9185-4238-AE94-E077837BFB93}" srcOrd="1" destOrd="0" presId="urn:microsoft.com/office/officeart/2005/8/layout/list1"/>
    <dgm:cxn modelId="{F79448AD-894C-4347-94EB-4526A8A6593D}" srcId="{09B6AF11-D0B1-44DD-AC06-393C1B835AC7}" destId="{550360BF-8289-427F-8F50-4B9420177C62}" srcOrd="1" destOrd="0" parTransId="{7AE65516-C8A7-45BD-BBA4-CFABF536A7D8}" sibTransId="{127EF403-F5C3-4657-B05C-D1AB2718EFB7}"/>
    <dgm:cxn modelId="{D5FEE8AE-F975-49E0-8DCE-D948FCDEB50A}" type="presOf" srcId="{A8709C74-A481-4B33-BC38-C48B26D4FEE9}" destId="{5E4D9C41-D6A3-4689-9F8F-C8A890BAB227}" srcOrd="1" destOrd="0" presId="urn:microsoft.com/office/officeart/2005/8/layout/list1"/>
    <dgm:cxn modelId="{459C72CE-0DD6-4853-886A-0EF6A95E29EC}" type="presOf" srcId="{A8709C74-A481-4B33-BC38-C48B26D4FEE9}" destId="{15173A8E-FA92-4A9E-8037-841699541C2E}" srcOrd="0" destOrd="0" presId="urn:microsoft.com/office/officeart/2005/8/layout/list1"/>
    <dgm:cxn modelId="{AC6192DF-F4D6-400E-874C-511E503F914B}" type="presOf" srcId="{09B6AF11-D0B1-44DD-AC06-393C1B835AC7}" destId="{E16BA579-B847-4633-8892-4DA4BA992445}" srcOrd="0" destOrd="0" presId="urn:microsoft.com/office/officeart/2005/8/layout/list1"/>
    <dgm:cxn modelId="{94D40FFF-9709-4ED2-B0F9-6970275049CD}" srcId="{09B6AF11-D0B1-44DD-AC06-393C1B835AC7}" destId="{A8709C74-A481-4B33-BC38-C48B26D4FEE9}" srcOrd="0" destOrd="0" parTransId="{A2408750-E1FB-4188-AE00-EE905F09ED0C}" sibTransId="{7EC1421E-CB4D-418C-B93D-2F6F6C43C970}"/>
    <dgm:cxn modelId="{B4B16F36-C49B-42DC-AB67-B01DAB2BB034}" type="presParOf" srcId="{E16BA579-B847-4633-8892-4DA4BA992445}" destId="{4A8524CA-AF5F-4945-928B-BEB0FCDBAA88}" srcOrd="0" destOrd="0" presId="urn:microsoft.com/office/officeart/2005/8/layout/list1"/>
    <dgm:cxn modelId="{CA701A2B-474D-455B-852B-0B2F28D1FAA6}" type="presParOf" srcId="{4A8524CA-AF5F-4945-928B-BEB0FCDBAA88}" destId="{15173A8E-FA92-4A9E-8037-841699541C2E}" srcOrd="0" destOrd="0" presId="urn:microsoft.com/office/officeart/2005/8/layout/list1"/>
    <dgm:cxn modelId="{4B666159-C6A3-42DE-A078-37E9112CABFC}" type="presParOf" srcId="{4A8524CA-AF5F-4945-928B-BEB0FCDBAA88}" destId="{5E4D9C41-D6A3-4689-9F8F-C8A890BAB227}" srcOrd="1" destOrd="0" presId="urn:microsoft.com/office/officeart/2005/8/layout/list1"/>
    <dgm:cxn modelId="{059F54A1-9B35-4511-9B0B-AAFA436FAF20}" type="presParOf" srcId="{E16BA579-B847-4633-8892-4DA4BA992445}" destId="{F2252F2C-F1B1-41D8-86FE-8C099FE0C6D9}" srcOrd="1" destOrd="0" presId="urn:microsoft.com/office/officeart/2005/8/layout/list1"/>
    <dgm:cxn modelId="{89BC704E-FB7C-44FC-BECE-9EE3A8FAF53D}" type="presParOf" srcId="{E16BA579-B847-4633-8892-4DA4BA992445}" destId="{7CA01847-DEB7-46D6-9BFB-6605D7DFD35E}" srcOrd="2" destOrd="0" presId="urn:microsoft.com/office/officeart/2005/8/layout/list1"/>
    <dgm:cxn modelId="{E6E200D7-1FA1-4C51-A0D6-9AE182C9C150}" type="presParOf" srcId="{E16BA579-B847-4633-8892-4DA4BA992445}" destId="{895E4580-C261-447D-A5F3-ECDE85F0DAAD}" srcOrd="3" destOrd="0" presId="urn:microsoft.com/office/officeart/2005/8/layout/list1"/>
    <dgm:cxn modelId="{70E70725-D259-408A-8E03-54631543C125}" type="presParOf" srcId="{E16BA579-B847-4633-8892-4DA4BA992445}" destId="{19BCCCC2-D807-47DE-9FFB-3E11E74056EF}" srcOrd="4" destOrd="0" presId="urn:microsoft.com/office/officeart/2005/8/layout/list1"/>
    <dgm:cxn modelId="{553F28A4-F27A-4910-B87C-59EC47096176}" type="presParOf" srcId="{19BCCCC2-D807-47DE-9FFB-3E11E74056EF}" destId="{A1D62208-CD1A-4F0D-B728-B752F1984C59}" srcOrd="0" destOrd="0" presId="urn:microsoft.com/office/officeart/2005/8/layout/list1"/>
    <dgm:cxn modelId="{4CF4F1E8-9424-41E1-81A3-ED3F47C6D2C7}" type="presParOf" srcId="{19BCCCC2-D807-47DE-9FFB-3E11E74056EF}" destId="{8B98A241-9185-4238-AE94-E077837BFB93}" srcOrd="1" destOrd="0" presId="urn:microsoft.com/office/officeart/2005/8/layout/list1"/>
    <dgm:cxn modelId="{82171960-1C2D-4494-AE21-73DDF32842C8}" type="presParOf" srcId="{E16BA579-B847-4633-8892-4DA4BA992445}" destId="{381D9459-1E51-4F53-8CDF-ED18E7DFF4BD}" srcOrd="5" destOrd="0" presId="urn:microsoft.com/office/officeart/2005/8/layout/list1"/>
    <dgm:cxn modelId="{EC042BCD-54A0-4335-BD99-5976632B9EDA}" type="presParOf" srcId="{E16BA579-B847-4633-8892-4DA4BA992445}" destId="{506FE2D0-DCD5-4EAD-B3E1-371380EECD98}" srcOrd="6" destOrd="0" presId="urn:microsoft.com/office/officeart/2005/8/layout/list1"/>
    <dgm:cxn modelId="{74BBC5D1-3A51-4DD9-82A3-C6673287FC2C}" type="presParOf" srcId="{E16BA579-B847-4633-8892-4DA4BA992445}" destId="{13AA2561-70F5-4324-9588-E741B9D8DD52}" srcOrd="7" destOrd="0" presId="urn:microsoft.com/office/officeart/2005/8/layout/list1"/>
    <dgm:cxn modelId="{F692AC45-6D05-4DF6-A74A-E7040FAE937F}" type="presParOf" srcId="{E16BA579-B847-4633-8892-4DA4BA992445}" destId="{64AF8013-8D19-41ED-A3B8-AC31F9DA691B}" srcOrd="8" destOrd="0" presId="urn:microsoft.com/office/officeart/2005/8/layout/list1"/>
    <dgm:cxn modelId="{027C3CA9-0CFF-4EA0-B7C1-2B3FB7EB5FD2}" type="presParOf" srcId="{64AF8013-8D19-41ED-A3B8-AC31F9DA691B}" destId="{3ABC4144-55B4-4174-B754-0BB10DEDC7F2}" srcOrd="0" destOrd="0" presId="urn:microsoft.com/office/officeart/2005/8/layout/list1"/>
    <dgm:cxn modelId="{BCFE084A-BC3E-40EA-A78C-90A0691DB5BE}" type="presParOf" srcId="{64AF8013-8D19-41ED-A3B8-AC31F9DA691B}" destId="{25D18F8D-76CE-4959-98D6-08B254ECE73D}" srcOrd="1" destOrd="0" presId="urn:microsoft.com/office/officeart/2005/8/layout/list1"/>
    <dgm:cxn modelId="{79CDE1A6-A0B9-4E36-95AA-4C529EDFB296}" type="presParOf" srcId="{E16BA579-B847-4633-8892-4DA4BA992445}" destId="{152C46CA-2622-4AB6-A5F3-C2FF87FDD965}" srcOrd="9" destOrd="0" presId="urn:microsoft.com/office/officeart/2005/8/layout/list1"/>
    <dgm:cxn modelId="{638A80C3-4A70-4947-A50A-EF70A9FDD3A3}" type="presParOf" srcId="{E16BA579-B847-4633-8892-4DA4BA992445}" destId="{330FD918-47DD-4FC9-8BB7-A94BD69B023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01847-DEB7-46D6-9BFB-6605D7DFD35E}">
      <dsp:nvSpPr>
        <dsp:cNvPr id="0" name=""/>
        <dsp:cNvSpPr/>
      </dsp:nvSpPr>
      <dsp:spPr>
        <a:xfrm>
          <a:off x="0" y="485883"/>
          <a:ext cx="1090615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D9C41-D6A3-4689-9F8F-C8A890BAB227}">
      <dsp:nvSpPr>
        <dsp:cNvPr id="0" name=""/>
        <dsp:cNvSpPr/>
      </dsp:nvSpPr>
      <dsp:spPr>
        <a:xfrm>
          <a:off x="545307" y="42956"/>
          <a:ext cx="9023679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559" tIns="0" rIns="28855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DNS misconfigurations can expose sensitive network information, making systems vulnerable to cyberattacks and data leakage. An automated detection system is needed to identify and prevent these security issues.</a:t>
          </a:r>
        </a:p>
      </dsp:txBody>
      <dsp:txXfrm>
        <a:off x="589979" y="87628"/>
        <a:ext cx="8934335" cy="825776"/>
      </dsp:txXfrm>
    </dsp:sp>
    <dsp:sp modelId="{506FE2D0-DCD5-4EAD-B3E1-371380EECD98}">
      <dsp:nvSpPr>
        <dsp:cNvPr id="0" name=""/>
        <dsp:cNvSpPr/>
      </dsp:nvSpPr>
      <dsp:spPr>
        <a:xfrm>
          <a:off x="0" y="1892044"/>
          <a:ext cx="1090615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8A241-9185-4238-AE94-E077837BFB93}">
      <dsp:nvSpPr>
        <dsp:cNvPr id="0" name=""/>
        <dsp:cNvSpPr/>
      </dsp:nvSpPr>
      <dsp:spPr>
        <a:xfrm>
          <a:off x="545307" y="1434483"/>
          <a:ext cx="9033909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559" tIns="0" rIns="28855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Manual detection of DNS configuration errors is slow and may miss critical vulnerabilities. A real-time automated solution can improve DNS security and prevent information leakage.</a:t>
          </a:r>
        </a:p>
      </dsp:txBody>
      <dsp:txXfrm>
        <a:off x="589979" y="1479155"/>
        <a:ext cx="8944565" cy="825776"/>
      </dsp:txXfrm>
    </dsp:sp>
    <dsp:sp modelId="{330FD918-47DD-4FC9-8BB7-A94BD69B0236}">
      <dsp:nvSpPr>
        <dsp:cNvPr id="0" name=""/>
        <dsp:cNvSpPr/>
      </dsp:nvSpPr>
      <dsp:spPr>
        <a:xfrm>
          <a:off x="0" y="3298204"/>
          <a:ext cx="1090615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18F8D-76CE-4959-98D6-08B254ECE73D}">
      <dsp:nvSpPr>
        <dsp:cNvPr id="0" name=""/>
        <dsp:cNvSpPr/>
      </dsp:nvSpPr>
      <dsp:spPr>
        <a:xfrm>
          <a:off x="545307" y="2840644"/>
          <a:ext cx="9060935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559" tIns="0" rIns="28855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Exposed DNS records and incorrect settings allow attackers to gather valuable network information. Automated DNS misconfiguration detection helps secure DNS infrastructure and protects sensitive data.</a:t>
          </a:r>
        </a:p>
      </dsp:txBody>
      <dsp:txXfrm>
        <a:off x="589979" y="2885316"/>
        <a:ext cx="8971591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D1C2332-C8CC-4563-9A49-614AB88B7945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9/3/2026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3FF74-E5DF-4BD8-B205-1088CEEDD332}" type="slidenum">
              <a:rPr lang="en-IN" smtClean="0"/>
              <a:t>5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3FF74-E5DF-4BD8-B205-1088CEEDD332}" type="slidenum">
              <a:rPr lang="en-IN" smtClean="0"/>
              <a:t>6</a:t>
            </a:fld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3FF74-E5DF-4BD8-B205-1088CEEDD332}" type="slidenum">
              <a:rPr lang="en-IN" smtClean="0"/>
              <a:t>8</a:t>
            </a:fld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196181" y="1399592"/>
            <a:ext cx="9799638" cy="1328388"/>
          </a:xfrm>
        </p:spPr>
        <p:txBody>
          <a:bodyPr vert="horz" wrap="square" lIns="91440" tIns="45720" rIns="91440" bIns="45720" numCol="1" anchor="b" anchorCtr="0" compatLnSpc="1"/>
          <a:lstStyle/>
          <a:p>
            <a:pPr lvl="0" eaLnBrk="1" hangingPunct="1">
              <a:defRPr/>
            </a:pPr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Preventing DNS Information Leakage through Automated DNS Misconfiguration Detection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98353"/>
            <a:ext cx="9144000" cy="273018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Sravani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- 192372141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 Reddy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Renuka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- 192311062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ITA1408-Ethical Hacking</a:t>
            </a:r>
          </a:p>
          <a:p>
            <a:pPr lvl="0"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Faculty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 Parthiban,</a:t>
            </a:r>
          </a:p>
          <a:p>
            <a:pPr lvl="0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SIMATS Engineering, SIMATS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076" name="image3.png" descr="C:\Users\ADMIN\AppData\Local\Microsoft\Windows\INetCache\Content.MSO\C29DB0A6.t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056" y="241491"/>
            <a:ext cx="10037763" cy="1030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9" name="Slide Number Placeholder 5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  <a:t>1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 txBox="1">
            <a:spLocks noGrp="1"/>
          </p:cNvSpPr>
          <p:nvPr>
            <p:ph type="ftr" sz="quarter" idx="11"/>
          </p:nvPr>
        </p:nvSpPr>
        <p:spPr>
          <a:noFill/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CAPSTONE PROJECT </a:t>
            </a:r>
          </a:p>
        </p:txBody>
      </p:sp>
      <p:sp>
        <p:nvSpPr>
          <p:cNvPr id="4103" name="Slide Number Placeholder 7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66510"/>
            <a:ext cx="2743200" cy="365125"/>
          </a:xfrm>
          <a:noFill/>
          <a:ln>
            <a:noFill/>
          </a:ln>
        </p:spPr>
        <p:txBody>
          <a:bodyPr anchor="ctr" anchorCtr="0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  <a:t>2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1793" y="1888282"/>
            <a:ext cx="47704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Abstract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7806" y="1898441"/>
            <a:ext cx="39940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6543" y="1272541"/>
            <a:ext cx="217559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44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Agenda </a:t>
            </a:r>
            <a:endParaRPr lang="en-IN" sz="4400" b="1" cap="none" spc="0" dirty="0">
              <a:ln w="0"/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BE60A71B-6048-4BBE-BE51-9B97ED2F8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688"/>
            <a:ext cx="10668000" cy="1030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E0374-00D3-1640-1E72-7B410B76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pic>
        <p:nvPicPr>
          <p:cNvPr id="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536062B-434C-2CE4-8ECB-2948A00EF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22" y="136525"/>
            <a:ext cx="10668000" cy="953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572E47-467F-3C3A-D00F-5EA274639C97}"/>
              </a:ext>
            </a:extLst>
          </p:cNvPr>
          <p:cNvSpPr txBox="1"/>
          <p:nvPr/>
        </p:nvSpPr>
        <p:spPr>
          <a:xfrm>
            <a:off x="2890339" y="1175618"/>
            <a:ext cx="6097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IN" sz="4400" b="1" cap="none" spc="0" dirty="0">
              <a:ln w="0"/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E4431-9D35-37E5-15E0-A1C5E8F83C16}"/>
              </a:ext>
            </a:extLst>
          </p:cNvPr>
          <p:cNvSpPr txBox="1"/>
          <p:nvPr/>
        </p:nvSpPr>
        <p:spPr>
          <a:xfrm>
            <a:off x="964942" y="2092050"/>
            <a:ext cx="1066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DNS information leakage</a:t>
            </a:r>
            <a:r>
              <a:rPr lang="en-US" dirty="0"/>
              <a:t> occurs due to misconfigured DNS settings, exposing sensitive network information to attackers.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The proposed system</a:t>
            </a:r>
            <a:r>
              <a:rPr lang="en-US" dirty="0"/>
              <a:t> automatically performs DNS enumeration to collect DNS records and identify exposed assets.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Misconfiguration analysis</a:t>
            </a:r>
            <a:r>
              <a:rPr lang="en-US" dirty="0"/>
              <a:t> detects security issues such as open zone transfer, open recursion, missing DNSSEC, and incorrect DNS records.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Security recommendations</a:t>
            </a:r>
            <a:r>
              <a:rPr lang="en-US" dirty="0"/>
              <a:t> are generated to help administrators fix vulnerabilities and strengthen DNS security.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The system</a:t>
            </a:r>
            <a:r>
              <a:rPr lang="en-US" dirty="0"/>
              <a:t> improves cybersecurity by preventing DNS information leakage through automated detection, continuous monitoring, and timely remediation.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The proposed solution</a:t>
            </a:r>
            <a:r>
              <a:rPr lang="en-US" dirty="0"/>
              <a:t> is efficient, scalable, and reduces manual effort, making it suitable for organizations of all sizes to maintain a secure and reliable DNS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32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6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  <a:t>4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03925" y="2967038"/>
            <a:ext cx="184150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5400" b="0" i="0" u="none" strike="noStrike" kern="1200" cap="none" spc="0" normalizeH="0" baseline="0" noProof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80211" y="1184275"/>
            <a:ext cx="324742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2" name="image3.png" descr="C:\Users\ADMIN\AppData\Local\Microsoft\Windows\INetCache\Content.MSO\C29DB0A6.t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22" y="136525"/>
            <a:ext cx="10668000" cy="953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3AAE2BC-3A2B-615B-D756-60AFC012E388}"/>
              </a:ext>
            </a:extLst>
          </p:cNvPr>
          <p:cNvSpPr txBox="1"/>
          <p:nvPr/>
        </p:nvSpPr>
        <p:spPr>
          <a:xfrm>
            <a:off x="1103506" y="2263246"/>
            <a:ext cx="99849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(Domain Name System) translates domain names into IP addresses, enabling communication between users and websites.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DNS servers can expose sensitive information such as internal IP addresses, hostnames, and network details.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information leakage provides attackers with valuable data for reconnaissance and planning cyberattacks.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of DNS misconfigurations is time-consuming, error-prone, and inefficient for large-scale networks.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DNS misconfiguration detection system improves security by identifying vulnerabilities quickly and preventing information leakage.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(DNS) is a critical component of internet communication, but misconfigurations can expose sensitive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create security vulnerabilities.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20893" y="1473904"/>
            <a:ext cx="48263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3485" y="4676140"/>
            <a:ext cx="1599565" cy="8604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8460" y="4676211"/>
            <a:ext cx="1465116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Limitations</a:t>
            </a:r>
          </a:p>
        </p:txBody>
      </p:sp>
      <p:pic>
        <p:nvPicPr>
          <p:cNvPr id="10" name="image3.png" descr="C:\Users\ADMIN\AppData\Local\Microsoft\Windows\INetCache\Content.MSO\C29DB0A6.t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58967"/>
            <a:ext cx="10391775" cy="1216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76A7DBF-CAC0-04EA-A31D-ACE463A66F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7765967"/>
              </p:ext>
            </p:extLst>
          </p:nvPr>
        </p:nvGraphicFramePr>
        <p:xfrm>
          <a:off x="642920" y="2442011"/>
          <a:ext cx="10906159" cy="4107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8" y="88903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972303"/>
              </p:ext>
            </p:extLst>
          </p:nvPr>
        </p:nvGraphicFramePr>
        <p:xfrm>
          <a:off x="759460" y="1968021"/>
          <a:ext cx="10673080" cy="459802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08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2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2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4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490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S.NO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DETAILS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</a:rPr>
                        <a:t> OF THE JOURNAL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ALGORITHM 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ADVANTAGES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DIS ADVANTAGES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44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  <a:endParaRPr 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Almohri et al. (2021). DNS Security and Privacy: Challenges and Solutions.</a:t>
                      </a:r>
                      <a:endParaRPr lang="en-US" alt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DNS Security Analysis</a:t>
                      </a:r>
                      <a:endParaRPr lang="en-US" alt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Detects common DNS vulnerabilities such as open to configurations.</a:t>
                      </a:r>
                      <a:endParaRPr lang="en-US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Limited automation and requires manual verification of detected issues.</a:t>
                      </a:r>
                      <a:endParaRPr lang="en-US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650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Kumar et al. (2023). Automated DNS Vulnerability Assessment Using Machine Learning.</a:t>
                      </a:r>
                      <a:endParaRPr lang="en-US" alt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Machine Learning-Based Detection</a:t>
                      </a:r>
                      <a:endParaRPr lang="en-US" alt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Automatically detects abnormal DNS configurations with improved accuracy.</a:t>
                      </a:r>
                      <a:endParaRPr lang="en-US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Requires a large dataset for training and periodic model updates.</a:t>
                      </a:r>
                      <a:endParaRPr lang="en-US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728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Zhang et al. (2024). Intelligent DNS Misconfiguration Detection for Enterprise Networks.</a:t>
                      </a:r>
                      <a:endParaRPr lang="en-US" alt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Hybrid AI + Rule-Based Detection</a:t>
                      </a:r>
                      <a:endParaRPr lang="en-US" alt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Combines AI with security rules to accurately detect  misconfigurations.</a:t>
                      </a:r>
                      <a:endParaRPr lang="en-US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Higher computational cost and implementation complexity.</a:t>
                      </a:r>
                      <a:endParaRPr lang="en-US" alt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44334" y="1119190"/>
            <a:ext cx="490333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endParaRPr lang="en-IN" sz="44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838200" y="665163"/>
            <a:ext cx="10515600" cy="1025525"/>
          </a:xfrm>
        </p:spPr>
        <p:txBody>
          <a:bodyPr vert="horz" wrap="square" lIns="91440" tIns="45720" rIns="91440" bIns="45720" anchor="ctr" anchorCtr="0"/>
          <a:lstStyle/>
          <a:p>
            <a:pPr algn="ctr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2975" y="2107365"/>
            <a:ext cx="10306050" cy="478119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Automated DNS Misconfiguration Detection</a:t>
            </a:r>
            <a:r>
              <a:rPr lang="en-US" sz="2000" dirty="0"/>
              <a:t> – Automatically identifies DNS errors such as open zone transfers, dangling records, and incorrect configurations. 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DNS Information Leakage Prevention</a:t>
            </a:r>
            <a:r>
              <a:rPr lang="en-US" sz="2000" dirty="0"/>
              <a:t> – Detects and prevents the exposure of sensitive DNS information, including internal IP addresses and hostnames. 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Improved Network Security</a:t>
            </a:r>
            <a:r>
              <a:rPr lang="en-US" sz="2000" dirty="0"/>
              <a:t> – Reduces security risks by identifying DNS vulnerabilities before attackers can exploit them. 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Real-Time Monitoring and Alerting</a:t>
            </a:r>
            <a:r>
              <a:rPr lang="en-US" sz="2000" dirty="0"/>
              <a:t> – Continuously monitors DNS configurations and provides instant alerts for suspicious changes. 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Risk Assessment and Reporting</a:t>
            </a:r>
            <a:r>
              <a:rPr lang="en-US" sz="2000" dirty="0"/>
              <a:t> – Generates detailed reports with vulnerability analysis and remediation recommendations.</a:t>
            </a:r>
            <a:r>
              <a:rPr lang="en-US" sz="2000" b="1" dirty="0"/>
              <a:t> 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Reduced Manual Effort</a:t>
            </a:r>
            <a:r>
              <a:rPr lang="en-US" sz="2000" dirty="0"/>
              <a:t> – Automates DNS security checks, minimizing human error and saving administrative time.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7" name="Slide Number Placeholder 7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  <a:t>7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78045" y="1306513"/>
            <a:ext cx="2835910" cy="7683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en-US" sz="44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IN" sz="4400" b="1" cap="none" spc="0" dirty="0">
              <a:ln w="0"/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7" name="image3.png" descr="C:\Users\ADMIN\AppData\Local\Microsoft\Windows\INetCache\Content.MSO\C29DB0A6.t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798"/>
            <a:ext cx="10668000" cy="9106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409255" y="940831"/>
            <a:ext cx="33734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</a:p>
        </p:txBody>
      </p:sp>
      <p:pic>
        <p:nvPicPr>
          <p:cNvPr id="10" name="image3.png" descr="C:\Users\ADMIN\AppData\Local\Microsoft\Windows\INetCache\Content.MSO\C29DB0A6.t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11" y="32533"/>
            <a:ext cx="11093115" cy="843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93E27-DF01-1190-D558-C714088A4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03" y="1710272"/>
            <a:ext cx="9825135" cy="49399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3.png" descr="C:\Users\ADMIN\AppData\Local\Microsoft\Windows\INetCache\Content.MSO\C29DB0A6.t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10756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"/>
          <p:cNvSpPr txBox="1"/>
          <p:nvPr/>
        </p:nvSpPr>
        <p:spPr>
          <a:xfrm>
            <a:off x="3870960" y="1206466"/>
            <a:ext cx="6096000" cy="808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4400" b="1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Work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65765" y="2014821"/>
            <a:ext cx="10860470" cy="459125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DNS Enumeration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DNS Record Enumeration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DNS records such as A, AAAA, MX, NS, TXT, CNAME, and SOA from the target domain.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Subdomain Discovery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subdomains, DNS servers, and publicly available DNS information.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Misconfiguration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DNS Misconfiguration Detection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configuration issues such as open zone transfer, open recursion, missing DNSSEC, and incorrect DNS records.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DNS settings to identify vulnerabilities and assess the risk of DNS information leakage.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Security Recommendations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 Assessment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detected DNS issues as Low, Medium, High, or Critical based on their severity.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Remediation Recommendations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security best practices and corrective actions to fix DNS misconfigurations and improve DNS security.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A5893-952A-1F61-F60F-222BCE228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pic>
        <p:nvPicPr>
          <p:cNvPr id="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BE7D3CDD-E66F-E454-F181-DE0B82750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74" y="13652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6C6BF7-BB71-CE6E-9D9B-AA258B4340B2}"/>
              </a:ext>
            </a:extLst>
          </p:cNvPr>
          <p:cNvSpPr txBox="1"/>
          <p:nvPr/>
        </p:nvSpPr>
        <p:spPr>
          <a:xfrm>
            <a:off x="2282500" y="1308785"/>
            <a:ext cx="76269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44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About the Dataset </a:t>
            </a:r>
            <a:endParaRPr lang="en-IN" sz="44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AAADE-53B2-B2AF-D3BB-23738504E350}"/>
              </a:ext>
            </a:extLst>
          </p:cNvPr>
          <p:cNvSpPr txBox="1"/>
          <p:nvPr/>
        </p:nvSpPr>
        <p:spPr>
          <a:xfrm>
            <a:off x="1029582" y="2509128"/>
            <a:ext cx="101328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DNS Records Collection</a:t>
            </a:r>
            <a:br>
              <a:rPr lang="en-US" dirty="0"/>
            </a:br>
            <a:r>
              <a:rPr lang="en-US" dirty="0"/>
              <a:t>The dataset contains DNS records such as </a:t>
            </a:r>
            <a:r>
              <a:rPr lang="en-US" b="1" dirty="0"/>
              <a:t>A, AAAA, MX, NS, CNAME, TXT, and SOA</a:t>
            </a:r>
            <a:r>
              <a:rPr lang="en-US" dirty="0"/>
              <a:t> collected from target domains.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Configuration Details</a:t>
            </a:r>
            <a:br>
              <a:rPr lang="en-US" dirty="0"/>
            </a:br>
            <a:r>
              <a:rPr lang="en-US" dirty="0"/>
              <a:t>It includes information about DNS settings, subdomains, name servers, and DNSSEC configuration.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Misconfiguration Labels</a:t>
            </a:r>
            <a:br>
              <a:rPr lang="en-US" dirty="0"/>
            </a:br>
            <a:r>
              <a:rPr lang="en-US" dirty="0"/>
              <a:t>The dataset identifies issues such as </a:t>
            </a:r>
            <a:r>
              <a:rPr lang="en-US" b="1" dirty="0"/>
              <a:t>open zone transfer, open recursion, missing DNSSEC, and incorrect DNS records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Security Analysis</a:t>
            </a:r>
            <a:br>
              <a:rPr lang="en-US" dirty="0"/>
            </a:br>
            <a:r>
              <a:rPr lang="en-US" dirty="0"/>
              <a:t>The collected data is used to detect DNS information leakage, assess security risks, and generate recommendations for improving DNS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16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AA3BB4A-1E4D-F299-0680-824B78F19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10756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3A5AF8-07AE-D815-08D6-37DBADFE6473}"/>
              </a:ext>
            </a:extLst>
          </p:cNvPr>
          <p:cNvSpPr txBox="1"/>
          <p:nvPr/>
        </p:nvSpPr>
        <p:spPr>
          <a:xfrm>
            <a:off x="782637" y="1425901"/>
            <a:ext cx="4412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/>
              <a:t>DNS Enumeration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8823DF-C300-36F9-81B8-0DC8F78B7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710" y="2043403"/>
            <a:ext cx="5113034" cy="39095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658758-7754-E87F-39B9-5FAAE63B6780}"/>
              </a:ext>
            </a:extLst>
          </p:cNvPr>
          <p:cNvSpPr txBox="1"/>
          <p:nvPr/>
        </p:nvSpPr>
        <p:spPr>
          <a:xfrm>
            <a:off x="1011804" y="1790501"/>
            <a:ext cx="546773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DNS Record Collection</a:t>
            </a:r>
            <a:br>
              <a:rPr lang="en-US" dirty="0"/>
            </a:br>
            <a:r>
              <a:rPr lang="en-US" dirty="0"/>
              <a:t>Retrieves DNS records such as A, AAAA, MX, NS, TXT, CNAME, and SOA.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Subdomain Discovery</a:t>
            </a:r>
            <a:br>
              <a:rPr lang="en-US" dirty="0"/>
            </a:br>
            <a:r>
              <a:rPr lang="en-US" dirty="0"/>
              <a:t>Identifies public subdomains associated with the target domain.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Name Server Identification</a:t>
            </a:r>
            <a:br>
              <a:rPr lang="en-US" dirty="0"/>
            </a:br>
            <a:r>
              <a:rPr lang="en-US" dirty="0"/>
              <a:t>Detects authoritative DNS servers responsible for the domain.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Zone Information Gathering</a:t>
            </a:r>
            <a:br>
              <a:rPr lang="en-US" dirty="0"/>
            </a:br>
            <a:r>
              <a:rPr lang="en-US" dirty="0"/>
              <a:t>Collects publicly available DNS configuration and zone details.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DNS Information Validation</a:t>
            </a:r>
            <a:br>
              <a:rPr lang="en-US" dirty="0"/>
            </a:br>
            <a:r>
              <a:rPr lang="en-US" dirty="0"/>
              <a:t>Verifies the accuracy and availability of DNS records before further security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A493376-34D2-9A74-8F0C-5F4B2FD54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0183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B87782-625F-4824-E133-0FF7814AE0F1}"/>
              </a:ext>
            </a:extLst>
          </p:cNvPr>
          <p:cNvSpPr txBox="1"/>
          <p:nvPr/>
        </p:nvSpPr>
        <p:spPr>
          <a:xfrm>
            <a:off x="725455" y="1475453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/>
              <a:t>Misconfiguration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D044EF-3922-E3E1-CE15-3EA4E4552F89}"/>
              </a:ext>
            </a:extLst>
          </p:cNvPr>
          <p:cNvSpPr txBox="1"/>
          <p:nvPr/>
        </p:nvSpPr>
        <p:spPr>
          <a:xfrm>
            <a:off x="1037746" y="1854847"/>
            <a:ext cx="54729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Open Zone Transfer Detection</a:t>
            </a:r>
            <a:br>
              <a:rPr lang="en-US" dirty="0"/>
            </a:br>
            <a:r>
              <a:rPr lang="en-US" dirty="0"/>
              <a:t>Detects unauthorized DNS zone transfers (AXFR) that expose DNS records.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Open Recursive DNS Detection</a:t>
            </a:r>
            <a:br>
              <a:rPr lang="en-US" dirty="0"/>
            </a:br>
            <a:r>
              <a:rPr lang="en-US" dirty="0"/>
              <a:t>Identifies DNS servers that allow recursive queries from unauthorized users.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DNSSEC </a:t>
            </a:r>
            <a:r>
              <a:rPr lang="en-US" b="1" dirty="0" err="1"/>
              <a:t>Validatio</a:t>
            </a:r>
            <a:br>
              <a:rPr lang="en-US" dirty="0"/>
            </a:br>
            <a:r>
              <a:rPr lang="en-US" dirty="0"/>
              <a:t>Checks whether DNS Security Extensions (DNSSEC) are correctly configured.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DNS Record Verification</a:t>
            </a:r>
            <a:br>
              <a:rPr lang="en-US" dirty="0"/>
            </a:br>
            <a:r>
              <a:rPr lang="en-US" dirty="0"/>
              <a:t>Detects missing, incorrect, duplicate, or outdated DNS records.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Security Risk Analysis</a:t>
            </a:r>
            <a:br>
              <a:rPr lang="en-US" dirty="0"/>
            </a:br>
            <a:r>
              <a:rPr lang="en-US" dirty="0"/>
              <a:t>Analyzes detected misconfigurations and evaluates the risk of DNS information leakage.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9EFFD4-72C5-4010-C0E6-C10091DEC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717" y="2091980"/>
            <a:ext cx="5472971" cy="395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56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D9756-0D47-3C64-97F1-49ABBAA2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pic>
        <p:nvPicPr>
          <p:cNvPr id="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B671080A-EDB5-4E63-6848-48B65CA83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13" y="20183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04FA18-08BB-50A6-1CED-15E97734F8F1}"/>
              </a:ext>
            </a:extLst>
          </p:cNvPr>
          <p:cNvSpPr txBox="1"/>
          <p:nvPr/>
        </p:nvSpPr>
        <p:spPr>
          <a:xfrm>
            <a:off x="706794" y="1487880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Recommendations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160343-1CFC-7323-C452-D2C8535E5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348" y="2081433"/>
            <a:ext cx="5109037" cy="39322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6DE7CF-9109-8903-BAB3-457CA03629EC}"/>
              </a:ext>
            </a:extLst>
          </p:cNvPr>
          <p:cNvSpPr txBox="1"/>
          <p:nvPr/>
        </p:nvSpPr>
        <p:spPr>
          <a:xfrm>
            <a:off x="983813" y="1850182"/>
            <a:ext cx="568389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detected DNS issues as Low, Medium, High, or Critical based on severity.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Fixes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corrections for DNS misconfigurations such as open recursion and zone transfer.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DNSSEC Implementation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enabling and properly configuring DNSSEC to improve DNS security.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Recommendations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Advises restricting unauthorized DNS queries and limiting zone transfer access.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Report Generation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detailed report with detected issues, risk levels, and recommended mitigation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07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BD651-3F83-368F-194E-F9087138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CE77D7-08A6-EBFA-3337-5502D3361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62975"/>
            <a:ext cx="10183375" cy="5167222"/>
          </a:xfrm>
          <a:prstGeom prst="rect">
            <a:avLst/>
          </a:prstGeom>
        </p:spPr>
      </p:pic>
      <p:pic>
        <p:nvPicPr>
          <p:cNvPr id="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69B1E52-A7FA-F0CB-1FE4-B7F978142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13" y="201839"/>
            <a:ext cx="10037762" cy="747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3146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9BE91-E4D3-BEA1-879F-8AA774C9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54209-718B-0090-E8CE-76DDC7A11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45" y="1423358"/>
            <a:ext cx="10463842" cy="4958647"/>
          </a:xfrm>
          <a:prstGeom prst="rect">
            <a:avLst/>
          </a:prstGeom>
        </p:spPr>
      </p:pic>
      <p:pic>
        <p:nvPicPr>
          <p:cNvPr id="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34140E4-523E-0C21-850E-210F30224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13" y="201840"/>
            <a:ext cx="10037762" cy="807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5039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BFB77C6-34A3-F0C5-ACC6-14574984B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13" y="20183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E0F7BC-DA7D-B523-141E-BFB3C22106D6}"/>
              </a:ext>
            </a:extLst>
          </p:cNvPr>
          <p:cNvSpPr txBox="1"/>
          <p:nvPr/>
        </p:nvSpPr>
        <p:spPr>
          <a:xfrm>
            <a:off x="4423277" y="1390261"/>
            <a:ext cx="6495661" cy="144655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b="1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</a:t>
            </a:r>
          </a:p>
          <a:p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88E07-7FC0-7981-723C-4DEEF62CB9C5}"/>
              </a:ext>
            </a:extLst>
          </p:cNvPr>
          <p:cNvSpPr txBox="1"/>
          <p:nvPr/>
        </p:nvSpPr>
        <p:spPr>
          <a:xfrm>
            <a:off x="1163994" y="2220683"/>
            <a:ext cx="98640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Preventing DNS Information Leakage through Automated DNS Misconfiguration Detection system provides an effective solution for identifying and preventing DNS-related security risks.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automatically enumerating DNS records, detecting misconfigurations such as open zone transfers, open recursion, and missing DNSSEC, and generating security recommendations, the system helps protect sensitive DNS information from unauthorized access.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effort, improves the accuracy of vulnerability detection, and enhances the overall security and reliability of DNS infrastructure.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offers a practical, efficient, and scalable approach to strengthening DNS security and preventing information leakage.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939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45AF5-73FC-F90C-66C5-A27C4924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3/27/2025</a:t>
            </a:r>
          </a:p>
        </p:txBody>
      </p:sp>
      <p:pic>
        <p:nvPicPr>
          <p:cNvPr id="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A127AA60-6DF1-EC4C-29E3-13B03270E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13" y="20183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D1353F-BCAF-DA48-3178-57DC9A6A6E1F}"/>
              </a:ext>
            </a:extLst>
          </p:cNvPr>
          <p:cNvSpPr txBox="1"/>
          <p:nvPr/>
        </p:nvSpPr>
        <p:spPr>
          <a:xfrm>
            <a:off x="3194395" y="1350415"/>
            <a:ext cx="615063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Enhancements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F0708-FB5F-2C12-FA21-8F481C414ED9}"/>
              </a:ext>
            </a:extLst>
          </p:cNvPr>
          <p:cNvSpPr txBox="1"/>
          <p:nvPr/>
        </p:nvSpPr>
        <p:spPr>
          <a:xfrm>
            <a:off x="1250831" y="2238146"/>
            <a:ext cx="10037762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AI-Based Detection</a:t>
            </a:r>
            <a:r>
              <a:rPr lang="en-IN" dirty="0"/>
              <a:t> – Detect complex DNS misconfigurations automatically.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Real-Time Monitoring</a:t>
            </a:r>
            <a:r>
              <a:rPr lang="en-IN" dirty="0"/>
              <a:t> – Monitor DNS changes continuously.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Automated Fixing</a:t>
            </a:r>
            <a:r>
              <a:rPr lang="en-IN" dirty="0"/>
              <a:t> – Automatically correct common DNS errors.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DNSSEC Support</a:t>
            </a:r>
            <a:r>
              <a:rPr lang="en-IN" dirty="0"/>
              <a:t> – Verify DNS security configurations.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Threat Detection</a:t>
            </a:r>
            <a:r>
              <a:rPr lang="en-IN" dirty="0"/>
              <a:t> – Detect DNS spoofing and </a:t>
            </a:r>
            <a:r>
              <a:rPr lang="en-IN" dirty="0" err="1"/>
              <a:t>tunneling</a:t>
            </a:r>
            <a:r>
              <a:rPr lang="en-IN" dirty="0"/>
              <a:t> attacks.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Cloud Support</a:t>
            </a:r>
            <a:r>
              <a:rPr lang="en-IN" dirty="0"/>
              <a:t> – Monitor AWS, Azure, and Google Cloud DNS.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Instant Alerts</a:t>
            </a:r>
            <a:r>
              <a:rPr lang="en-IN" dirty="0"/>
              <a:t> – Notify administrators about critical issues.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Security Dashboard</a:t>
            </a:r>
            <a:r>
              <a:rPr lang="en-IN" dirty="0"/>
              <a:t> – Display vulnerabilities and risk levels.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SIEM Integration</a:t>
            </a:r>
            <a:r>
              <a:rPr lang="en-IN" dirty="0"/>
              <a:t> – Connect with security monitoring tools.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Scalable Scanning</a:t>
            </a:r>
            <a:r>
              <a:rPr lang="en-IN" dirty="0"/>
              <a:t> – Support large-scale domain monitoring.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29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F734D09C-906B-86E2-DE7F-D147F590F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13" y="20183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D27D17-0509-C1DA-DC8F-125A6FAB7C3A}"/>
              </a:ext>
            </a:extLst>
          </p:cNvPr>
          <p:cNvSpPr txBox="1"/>
          <p:nvPr/>
        </p:nvSpPr>
        <p:spPr>
          <a:xfrm>
            <a:off x="4476361" y="1399439"/>
            <a:ext cx="609755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 </a:t>
            </a:r>
          </a:p>
          <a:p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9DD0B-1FEA-AD36-8454-E977BCA0F1FB}"/>
              </a:ext>
            </a:extLst>
          </p:cNvPr>
          <p:cNvSpPr txBox="1"/>
          <p:nvPr/>
        </p:nvSpPr>
        <p:spPr>
          <a:xfrm>
            <a:off x="1029874" y="2244012"/>
            <a:ext cx="101322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Internet Engineering Task Force – </a:t>
            </a:r>
            <a:r>
              <a:rPr lang="en-US" b="1" dirty="0"/>
              <a:t>RFC 1034: Domain Names – Concepts and Facilities. </a:t>
            </a:r>
            <a:r>
              <a:rPr lang="en-US" dirty="0"/>
              <a:t>Defines the fundamental concepts and architecture of the Domain Name System (DNS).(2025)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Internet Engineering Task Force – </a:t>
            </a:r>
            <a:r>
              <a:rPr lang="en-US" b="1" dirty="0"/>
              <a:t>RFC 1035: Domain Names – Implementation and Specification. </a:t>
            </a:r>
            <a:r>
              <a:rPr lang="en-US" dirty="0"/>
              <a:t>Describes the implementation, DNS resource records, and communication protocols.(2024)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/>
              <a:t>Internet Corporation for Assigned Names and Numbers – </a:t>
            </a:r>
            <a:r>
              <a:rPr lang="en-US" b="1" dirty="0"/>
              <a:t>DNS Security Best Practices. </a:t>
            </a:r>
            <a:r>
              <a:rPr lang="en-US" dirty="0"/>
              <a:t>Provides guidelines for secure DNS configuration and protection against information leakage.(2023)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/>
              <a:t>OWASP Foundation – </a:t>
            </a:r>
            <a:r>
              <a:rPr lang="en-US" b="1" dirty="0"/>
              <a:t>OWASP Top 10 Security Risks. </a:t>
            </a:r>
            <a:r>
              <a:rPr lang="en-US" dirty="0"/>
              <a:t>Highlights common security vulnerabilities and recommended security practices.(2025)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/>
              <a:t>National Institute of Standards and Technology – </a:t>
            </a:r>
            <a:r>
              <a:rPr lang="en-US" b="1" dirty="0"/>
              <a:t>NIST Cybersecurity Framework (CSF). </a:t>
            </a:r>
            <a:r>
              <a:rPr lang="en-US" dirty="0"/>
              <a:t>Offers standards and best practices to manage and reduce cybersecurity risks.(2024)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dirty="0"/>
              <a:t>SANS Institute – </a:t>
            </a:r>
            <a:r>
              <a:rPr lang="en-US" b="1" dirty="0"/>
              <a:t>DNS Security and Hardening Guidelines. </a:t>
            </a:r>
            <a:r>
              <a:rPr lang="en-US" dirty="0"/>
              <a:t>Explains techniques for securing DNS infrastructure and preventing DNS-based </a:t>
            </a:r>
            <a:r>
              <a:rPr lang="en-US"/>
              <a:t>attacks.(2025)</a:t>
            </a: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748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33450" y="2543175"/>
            <a:ext cx="10515600" cy="2125663"/>
          </a:xfrm>
        </p:spPr>
        <p:txBody>
          <a:bodyPr vert="horz" wrap="square" lIns="91440" tIns="45720" rIns="91440" bIns="45720" anchor="ctr" anchorCtr="0"/>
          <a:lstStyle/>
          <a:p>
            <a:pPr algn="ctr" eaLnBrk="1" hangingPunct="1"/>
            <a:r>
              <a:rPr lang="en-US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US" altLang="en-US" sz="7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5603" name="image3.png" descr="C:\Users\ADMIN\AppData\Local\Microsoft\Windows\INetCache\Content.MSO\C29DB0A6.t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3" y="52387"/>
            <a:ext cx="10944807" cy="9646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6" name="Slide Number Placeholder 6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  <a:t>19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139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1499</Words>
  <Application>Microsoft Office PowerPoint</Application>
  <PresentationFormat>Widescreen</PresentationFormat>
  <Paragraphs>146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Times</vt:lpstr>
      <vt:lpstr>Times New Roman</vt:lpstr>
      <vt:lpstr>Wingdings</vt:lpstr>
      <vt:lpstr>Office Theme</vt:lpstr>
      <vt:lpstr>Preventing DNS Information Leakage through Automated DNS Misconfiguration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win10</dc:creator>
  <cp:lastModifiedBy>renuka pothamsetti</cp:lastModifiedBy>
  <cp:revision>91</cp:revision>
  <dcterms:created xsi:type="dcterms:W3CDTF">2025-03-26T04:06:00Z</dcterms:created>
  <dcterms:modified xsi:type="dcterms:W3CDTF">2026-09-03T15:22:53Z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FE1630F0B9044AE0A8B10836DAEF8618_13</vt:lpwstr>
  </property>
  <property fmtid="{D5CDD505-2E9C-101B-9397-08002B2CF9AE}" pid="3" name="KSOProductBuildVer">
    <vt:lpwstr>1033-12.1.0.27458</vt:lpwstr>
  </property>
</Properties>
</file>